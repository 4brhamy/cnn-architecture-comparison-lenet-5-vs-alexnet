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011680"/>
            <a:ext cx="10332720" cy="3200400"/>
          </a:xfrm>
          <a:prstGeom prst="rect">
            <a:avLst/>
          </a:prstGeom>
          <a:noFill/>
        </p:spPr>
        <p:txBody>
          <a:bodyPr wrap="square">
            <a:spAutoFit/>
          </a:bodyPr>
          <a:lstStyle/>
          <a:p>
            <a:pPr>
              <a:spcAft>
                <a:spcPts val="2400"/>
              </a:spcAft>
              <a:defRPr sz="1300" b="1">
                <a:solidFill>
                  <a:srgbClr val="D97706"/>
                </a:solidFill>
                <a:latin typeface="Arial"/>
              </a:defRPr>
            </a:pPr>
            <a:r>
              <a:t>ASSIGNMENT 3: DEEP LEARNING ARCHITECTURES (CNNS)</a:t>
            </a:r>
          </a:p>
          <a:p>
            <a:pPr>
              <a:spcAft>
                <a:spcPts val="1200"/>
              </a:spcAft>
              <a:defRPr sz="4600" b="1">
                <a:solidFill>
                  <a:srgbClr val="F8FAFC"/>
                </a:solidFill>
                <a:latin typeface="Arial"/>
              </a:defRPr>
            </a:pPr>
            <a:r>
              <a:t>Evolution of Convolutional Networks</a:t>
            </a:r>
          </a:p>
          <a:p>
            <a:pPr>
              <a:spcAft>
                <a:spcPts val="4800"/>
              </a:spcAft>
              <a:defRPr sz="2000">
                <a:solidFill>
                  <a:srgbClr val="64748B"/>
                </a:solidFill>
                <a:latin typeface="Arial"/>
              </a:defRPr>
            </a:pPr>
            <a:r>
              <a:t>A Comparative Analysis of LeNet-5 (1998) and AlexNet (2012) on CIFAR-10</a:t>
            </a:r>
          </a:p>
          <a:p>
            <a:pPr>
              <a:defRPr sz="1400" b="1">
                <a:solidFill>
                  <a:srgbClr val="F8FAFC"/>
                </a:solidFill>
                <a:latin typeface="Arial"/>
              </a:defRPr>
            </a:pPr>
            <a:r>
              <a:t>Presented by: Abrham Yilma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9144000" cy="365760"/>
          </a:xfrm>
          <a:prstGeom prst="rect">
            <a:avLst/>
          </a:prstGeom>
          <a:noFill/>
        </p:spPr>
        <p:txBody>
          <a:bodyPr wrap="square" lIns="0" tIns="0" bIns="0" rIns="0">
            <a:spAutoFit/>
          </a:bodyPr>
          <a:lstStyle/>
          <a:p>
            <a:pPr>
              <a:defRPr sz="1000" b="1">
                <a:solidFill>
                  <a:srgbClr val="D97706"/>
                </a:solidFill>
                <a:latin typeface="Arial"/>
              </a:defRPr>
            </a:pPr>
            <a:r>
              <a:t>INTRODUCTION &amp; CONTEXT</a:t>
            </a:r>
          </a:p>
        </p:txBody>
      </p:sp>
      <p:sp>
        <p:nvSpPr>
          <p:cNvPr id="3" name="TextBox 2"/>
          <p:cNvSpPr txBox="1"/>
          <p:nvPr/>
        </p:nvSpPr>
        <p:spPr>
          <a:xfrm>
            <a:off x="731520" y="640080"/>
            <a:ext cx="10515600" cy="731520"/>
          </a:xfrm>
          <a:prstGeom prst="rect">
            <a:avLst/>
          </a:prstGeom>
          <a:noFill/>
        </p:spPr>
        <p:txBody>
          <a:bodyPr wrap="square" lIns="0" tIns="0" bIns="0" rIns="0">
            <a:spAutoFit/>
          </a:bodyPr>
          <a:lstStyle/>
          <a:p>
            <a:pPr>
              <a:defRPr sz="3200" b="1">
                <a:solidFill>
                  <a:srgbClr val="0F172A"/>
                </a:solidFill>
                <a:latin typeface="Arial"/>
              </a:defRPr>
            </a:pPr>
            <a:r>
              <a:t>The Path of CNN Evolution</a:t>
            </a:r>
          </a:p>
        </p:txBody>
      </p:sp>
      <p:sp>
        <p:nvSpPr>
          <p:cNvPr id="4" name="TextBox 3"/>
          <p:cNvSpPr txBox="1"/>
          <p:nvPr/>
        </p:nvSpPr>
        <p:spPr>
          <a:xfrm>
            <a:off x="731520" y="1645920"/>
            <a:ext cx="5029200" cy="4114800"/>
          </a:xfrm>
          <a:prstGeom prst="rect">
            <a:avLst/>
          </a:prstGeom>
          <a:noFill/>
        </p:spPr>
        <p:txBody>
          <a:bodyPr wrap="square">
            <a:spAutoFit/>
          </a:bodyPr>
          <a:lstStyle/>
          <a:p>
            <a:pPr>
              <a:spcAft>
                <a:spcPts val="1400"/>
              </a:spcAft>
              <a:defRPr sz="2000" b="1">
                <a:solidFill>
                  <a:srgbClr val="2563EB"/>
                </a:solidFill>
                <a:latin typeface="Arial"/>
              </a:defRPr>
            </a:pPr>
            <a:r>
              <a:t>Why do architectures evolve?</a:t>
            </a:r>
          </a:p>
          <a:p>
            <a:pPr>
              <a:spcAft>
                <a:spcPts val="1000"/>
              </a:spcAft>
              <a:defRPr sz="1500"/>
            </a:pPr>
            <a:r>
              <a:t>• Manual Feature Engineering was the bottleneck in early Computer Vision.</a:t>
            </a:r>
          </a:p>
          <a:p>
            <a:pPr>
              <a:spcAft>
                <a:spcPts val="1000"/>
              </a:spcAft>
              <a:defRPr sz="1500"/>
            </a:pPr>
            <a:r>
              <a:t>• CNNs introduced automated local receptive fields, shared weights, and spatial translation invariance.</a:t>
            </a:r>
          </a:p>
          <a:p>
            <a:pPr>
              <a:defRPr sz="1500"/>
            </a:pPr>
            <a:r>
              <a:t>• The core evolutionary drivers: availability of large datasets (ImageNet), GPU compute scale, and innovative activation/regularization methods.</a:t>
            </a:r>
          </a:p>
        </p:txBody>
      </p:sp>
      <p:sp>
        <p:nvSpPr>
          <p:cNvPr id="5" name="Rounded Rectangle 4"/>
          <p:cNvSpPr/>
          <p:nvPr/>
        </p:nvSpPr>
        <p:spPr>
          <a:xfrm>
            <a:off x="6400800" y="1645920"/>
            <a:ext cx="5029200" cy="4114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400"/>
              </a:spcAft>
              <a:defRPr sz="2200" b="1">
                <a:solidFill>
                  <a:srgbClr val="D97706"/>
                </a:solidFill>
              </a:defRPr>
            </a:pPr>
            <a:r>
              <a:t>Key Comparison Focus</a:t>
            </a:r>
          </a:p>
          <a:p>
            <a:pPr>
              <a:spcAft>
                <a:spcPts val="1200"/>
              </a:spcAft>
              <a:defRPr sz="1500">
                <a:solidFill>
                  <a:srgbClr val="F8FAFC"/>
                </a:solidFill>
              </a:defRPr>
            </a:pPr>
            <a:r>
              <a:t>LeNet-5 [1998]: The foundational pioneer of modern spatial layers.</a:t>
            </a:r>
          </a:p>
          <a:p>
            <a:pPr>
              <a:defRPr sz="1500">
                <a:solidFill>
                  <a:srgbClr val="F8FAFC"/>
                </a:solidFill>
              </a:defRPr>
            </a:pPr>
            <a:r>
              <a:t>AlexNet [2012]: The scalable power-house that initiated the deep learning boom.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9144000" cy="365760"/>
          </a:xfrm>
          <a:prstGeom prst="rect">
            <a:avLst/>
          </a:prstGeom>
          <a:noFill/>
        </p:spPr>
        <p:txBody>
          <a:bodyPr wrap="square" lIns="0" tIns="0" bIns="0" rIns="0">
            <a:spAutoFit/>
          </a:bodyPr>
          <a:lstStyle/>
          <a:p>
            <a:pPr>
              <a:defRPr sz="1000" b="1">
                <a:solidFill>
                  <a:srgbClr val="D97706"/>
                </a:solidFill>
                <a:latin typeface="Arial"/>
              </a:defRPr>
            </a:pPr>
            <a:r>
              <a:t>PREDECESSOR ARCHITECTURE</a:t>
            </a:r>
          </a:p>
        </p:txBody>
      </p:sp>
      <p:sp>
        <p:nvSpPr>
          <p:cNvPr id="3" name="TextBox 2"/>
          <p:cNvSpPr txBox="1"/>
          <p:nvPr/>
        </p:nvSpPr>
        <p:spPr>
          <a:xfrm>
            <a:off x="731520" y="640080"/>
            <a:ext cx="10515600" cy="731520"/>
          </a:xfrm>
          <a:prstGeom prst="rect">
            <a:avLst/>
          </a:prstGeom>
          <a:noFill/>
        </p:spPr>
        <p:txBody>
          <a:bodyPr wrap="square" lIns="0" tIns="0" bIns="0" rIns="0">
            <a:spAutoFit/>
          </a:bodyPr>
          <a:lstStyle/>
          <a:p>
            <a:pPr>
              <a:defRPr sz="3200" b="1">
                <a:solidFill>
                  <a:srgbClr val="0F172A"/>
                </a:solidFill>
                <a:latin typeface="Arial"/>
              </a:defRPr>
            </a:pPr>
            <a:r>
              <a:t>LeNet-5: The Pioneer (1998)</a:t>
            </a:r>
          </a:p>
        </p:txBody>
      </p:sp>
      <p:sp>
        <p:nvSpPr>
          <p:cNvPr id="4" name="TextBox 3"/>
          <p:cNvSpPr txBox="1"/>
          <p:nvPr/>
        </p:nvSpPr>
        <p:spPr>
          <a:xfrm>
            <a:off x="731520" y="1645920"/>
            <a:ext cx="10698480" cy="4572000"/>
          </a:xfrm>
          <a:prstGeom prst="rect">
            <a:avLst/>
          </a:prstGeom>
          <a:noFill/>
        </p:spPr>
        <p:txBody>
          <a:bodyPr wrap="square">
            <a:spAutoFit/>
          </a:bodyPr>
          <a:lstStyle/>
          <a:p>
            <a:pPr>
              <a:spcAft>
                <a:spcPts val="2000"/>
              </a:spcAft>
              <a:defRPr sz="1800">
                <a:solidFill>
                  <a:srgbClr val="64748B"/>
                </a:solidFill>
              </a:defRPr>
            </a:pPr>
            <a:r>
              <a:t>Designed for handwritten digit recognition (MNIST), presenting the modern blueprint of conv-pool blocks.</a:t>
            </a:r>
          </a:p>
          <a:p>
            <a:pPr>
              <a:spcAft>
                <a:spcPts val="600"/>
              </a:spcAft>
              <a:defRPr sz="1600" b="1"/>
            </a:pPr>
            <a:r>
              <a:t>• Input Layer: 32x32 grayscale images (single channel).</a:t>
            </a:r>
          </a:p>
          <a:p>
            <a:pPr>
              <a:spcAft>
                <a:spcPts val="1400"/>
              </a:spcAft>
              <a:defRPr sz="1400">
                <a:solidFill>
                  <a:srgbClr val="64748B"/>
                </a:solidFill>
              </a:defRPr>
            </a:pPr>
            <a:r>
              <a:t>    Perfect for highly restricted, clear digit topologies with minimal scale variation.</a:t>
            </a:r>
          </a:p>
          <a:p>
            <a:pPr>
              <a:spcAft>
                <a:spcPts val="600"/>
              </a:spcAft>
              <a:defRPr sz="1600" b="1"/>
            </a:pPr>
            <a:r>
              <a:t>• Activations &amp; Subsampling: Sigmoid / Tanh activations and Average Pooling.</a:t>
            </a:r>
          </a:p>
          <a:p>
            <a:pPr>
              <a:spcAft>
                <a:spcPts val="1400"/>
              </a:spcAft>
              <a:defRPr sz="1400">
                <a:solidFill>
                  <a:srgbClr val="64748B"/>
                </a:solidFill>
              </a:defRPr>
            </a:pPr>
            <a:r>
              <a:t>    Average pooling reduces feature localization sharply. Sigmoid and Tanh activations are prone to gradient saturation.</a:t>
            </a:r>
          </a:p>
          <a:p>
            <a:pPr>
              <a:spcAft>
                <a:spcPts val="600"/>
              </a:spcAft>
              <a:defRPr sz="1600" b="1"/>
            </a:pPr>
            <a:r>
              <a:t>• Scale &amp; Capacity: 7 layers, approximately 60,000 trainable parameters.</a:t>
            </a:r>
          </a:p>
          <a:p>
            <a:pPr>
              <a:defRPr sz="1400">
                <a:solidFill>
                  <a:srgbClr val="64748B"/>
                </a:solidFill>
              </a:defRPr>
            </a:pPr>
            <a:r>
              <a:t>    Extremely compact representation. Light on compute but struggles to scale to generalized color scenes.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9144000" cy="365760"/>
          </a:xfrm>
          <a:prstGeom prst="rect">
            <a:avLst/>
          </a:prstGeom>
          <a:noFill/>
        </p:spPr>
        <p:txBody>
          <a:bodyPr wrap="square" lIns="0" tIns="0" bIns="0" rIns="0">
            <a:spAutoFit/>
          </a:bodyPr>
          <a:lstStyle/>
          <a:p>
            <a:pPr>
              <a:defRPr sz="1000" b="1">
                <a:solidFill>
                  <a:srgbClr val="D97706"/>
                </a:solidFill>
                <a:latin typeface="Arial"/>
              </a:defRPr>
            </a:pPr>
            <a:r>
              <a:t>SELECTED ARCHITECTURE</a:t>
            </a:r>
          </a:p>
        </p:txBody>
      </p:sp>
      <p:sp>
        <p:nvSpPr>
          <p:cNvPr id="3" name="TextBox 2"/>
          <p:cNvSpPr txBox="1"/>
          <p:nvPr/>
        </p:nvSpPr>
        <p:spPr>
          <a:xfrm>
            <a:off x="731520" y="640080"/>
            <a:ext cx="10515600" cy="731520"/>
          </a:xfrm>
          <a:prstGeom prst="rect">
            <a:avLst/>
          </a:prstGeom>
          <a:noFill/>
        </p:spPr>
        <p:txBody>
          <a:bodyPr wrap="square" lIns="0" tIns="0" bIns="0" rIns="0">
            <a:spAutoFit/>
          </a:bodyPr>
          <a:lstStyle/>
          <a:p>
            <a:pPr>
              <a:defRPr sz="3200" b="1">
                <a:solidFill>
                  <a:srgbClr val="0F172A"/>
                </a:solidFill>
                <a:latin typeface="Arial"/>
              </a:defRPr>
            </a:pPr>
            <a:r>
              <a:t>AlexNet: Scaling Up (2012)</a:t>
            </a:r>
          </a:p>
        </p:txBody>
      </p:sp>
      <p:sp>
        <p:nvSpPr>
          <p:cNvPr id="4" name="TextBox 3"/>
          <p:cNvSpPr txBox="1"/>
          <p:nvPr/>
        </p:nvSpPr>
        <p:spPr>
          <a:xfrm>
            <a:off x="731520" y="1645920"/>
            <a:ext cx="10698480" cy="4572000"/>
          </a:xfrm>
          <a:prstGeom prst="rect">
            <a:avLst/>
          </a:prstGeom>
          <a:noFill/>
        </p:spPr>
        <p:txBody>
          <a:bodyPr wrap="square">
            <a:spAutoFit/>
          </a:bodyPr>
          <a:lstStyle/>
          <a:p>
            <a:pPr>
              <a:spcAft>
                <a:spcPts val="2000"/>
              </a:spcAft>
              <a:defRPr sz="1800">
                <a:solidFill>
                  <a:srgbClr val="64748B"/>
                </a:solidFill>
              </a:defRPr>
            </a:pPr>
            <a:r>
              <a:t>Champion of the ILSVRC 2012 challenge, scaling capacity to handle generalized color classifications.</a:t>
            </a:r>
          </a:p>
          <a:p>
            <a:pPr>
              <a:spcAft>
                <a:spcPts val="600"/>
              </a:spcAft>
              <a:defRPr sz="1600" b="1"/>
            </a:pPr>
            <a:r>
              <a:t>• Standard GPU Parallelism &amp; 60 Million Parameters</a:t>
            </a:r>
          </a:p>
          <a:p>
            <a:pPr>
              <a:spcAft>
                <a:spcPts val="1400"/>
              </a:spcAft>
              <a:defRPr sz="1400">
                <a:solidFill>
                  <a:srgbClr val="64748B"/>
                </a:solidFill>
              </a:defRPr>
            </a:pPr>
            <a:r>
              <a:t>    Enabled deep 8-layer spatial hierarchies by training across two parallel GPUs.</a:t>
            </a:r>
          </a:p>
          <a:p>
            <a:pPr>
              <a:spcAft>
                <a:spcPts val="600"/>
              </a:spcAft>
              <a:defRPr sz="1600" b="1"/>
            </a:pPr>
            <a:r>
              <a:t>• Introduction of ReLU Activation</a:t>
            </a:r>
          </a:p>
          <a:p>
            <a:pPr>
              <a:spcAft>
                <a:spcPts val="1400"/>
              </a:spcAft>
              <a:defRPr sz="1400">
                <a:solidFill>
                  <a:srgbClr val="64748B"/>
                </a:solidFill>
              </a:defRPr>
            </a:pPr>
            <a:r>
              <a:t>    Replaced Sigmoids with Rectified Linear Units, converging up to 6 times faster by removing vanishing gradients.</a:t>
            </a:r>
          </a:p>
          <a:p>
            <a:pPr>
              <a:spcAft>
                <a:spcPts val="600"/>
              </a:spcAft>
              <a:defRPr sz="1600" b="1"/>
            </a:pPr>
            <a:r>
              <a:t>• Powerful Regularization: Dropout (0.5) &amp; Overlapping Max Pooling</a:t>
            </a:r>
          </a:p>
          <a:p>
            <a:pPr>
              <a:defRPr sz="1400">
                <a:solidFill>
                  <a:srgbClr val="64748B"/>
                </a:solidFill>
              </a:defRPr>
            </a:pPr>
            <a:r>
              <a:t>    Prevented co-adaptation of neurons in massive linear classifiers while retaining key spatial topologies.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9144000" cy="365760"/>
          </a:xfrm>
          <a:prstGeom prst="rect">
            <a:avLst/>
          </a:prstGeom>
          <a:noFill/>
        </p:spPr>
        <p:txBody>
          <a:bodyPr wrap="square" lIns="0" tIns="0" bIns="0" rIns="0">
            <a:spAutoFit/>
          </a:bodyPr>
          <a:lstStyle/>
          <a:p>
            <a:pPr>
              <a:defRPr sz="1000" b="1">
                <a:solidFill>
                  <a:srgbClr val="D97706"/>
                </a:solidFill>
                <a:latin typeface="Arial"/>
              </a:defRPr>
            </a:pPr>
            <a:r>
              <a:t>LENET-5 VS. ALEXNET</a:t>
            </a:r>
          </a:p>
        </p:txBody>
      </p:sp>
      <p:sp>
        <p:nvSpPr>
          <p:cNvPr id="3" name="TextBox 2"/>
          <p:cNvSpPr txBox="1"/>
          <p:nvPr/>
        </p:nvSpPr>
        <p:spPr>
          <a:xfrm>
            <a:off x="731520" y="640080"/>
            <a:ext cx="10515600" cy="731520"/>
          </a:xfrm>
          <a:prstGeom prst="rect">
            <a:avLst/>
          </a:prstGeom>
          <a:noFill/>
        </p:spPr>
        <p:txBody>
          <a:bodyPr wrap="square" lIns="0" tIns="0" bIns="0" rIns="0">
            <a:spAutoFit/>
          </a:bodyPr>
          <a:lstStyle/>
          <a:p>
            <a:pPr>
              <a:defRPr sz="3200" b="1">
                <a:solidFill>
                  <a:srgbClr val="0F172A"/>
                </a:solidFill>
                <a:latin typeface="Arial"/>
              </a:defRPr>
            </a:pPr>
            <a:r>
              <a:t>Comparative Architectural Paradigm</a:t>
            </a:r>
          </a:p>
        </p:txBody>
      </p:sp>
      <p:graphicFrame>
        <p:nvGraphicFramePr>
          <p:cNvPr id="4" name="Table 3"/>
          <p:cNvGraphicFramePr>
            <a:graphicFrameLocks noGrp="1"/>
          </p:cNvGraphicFramePr>
          <p:nvPr/>
        </p:nvGraphicFramePr>
        <p:xfrm>
          <a:off x="731520" y="1645920"/>
          <a:ext cx="10725912" cy="4389120"/>
        </p:xfrm>
        <a:graphic>
          <a:graphicData uri="http://schemas.openxmlformats.org/drawingml/2006/table">
            <a:tbl>
              <a:tblPr firstRow="1" bandRow="1">
                <a:tableStyleId>{5C22544A-7EE6-4342-B048-85BDC9FD1C3A}</a:tableStyleId>
              </a:tblPr>
              <a:tblGrid>
                <a:gridCol w="2011680"/>
                <a:gridCol w="2377440"/>
                <a:gridCol w="2377440"/>
                <a:gridCol w="3959352"/>
              </a:tblGrid>
              <a:tr h="548640">
                <a:tc>
                  <a:txBody>
                    <a:bodyPr/>
                    <a:lstStyle/>
                    <a:p>
                      <a:pPr algn="ctr">
                        <a:defRPr sz="1300" b="1">
                          <a:solidFill>
                            <a:srgbClr val="F8FAFC"/>
                          </a:solidFill>
                          <a:latin typeface="Arial"/>
                        </a:defRPr>
                      </a:pPr>
                      <a:r>
                        <a:t>Feature</a:t>
                      </a:r>
                    </a:p>
                  </a:txBody>
                  <a:tcPr>
                    <a:solidFill>
                      <a:srgbClr val="0F172A"/>
                    </a:solidFill>
                  </a:tcPr>
                </a:tc>
                <a:tc>
                  <a:txBody>
                    <a:bodyPr/>
                    <a:lstStyle/>
                    <a:p>
                      <a:pPr algn="ctr">
                        <a:defRPr sz="1300" b="1">
                          <a:solidFill>
                            <a:srgbClr val="F8FAFC"/>
                          </a:solidFill>
                          <a:latin typeface="Arial"/>
                        </a:defRPr>
                      </a:pPr>
                      <a:r>
                        <a:t>LeNet-5 (1998)</a:t>
                      </a:r>
                    </a:p>
                  </a:txBody>
                  <a:tcPr>
                    <a:solidFill>
                      <a:srgbClr val="0F172A"/>
                    </a:solidFill>
                  </a:tcPr>
                </a:tc>
                <a:tc>
                  <a:txBody>
                    <a:bodyPr/>
                    <a:lstStyle/>
                    <a:p>
                      <a:pPr algn="ctr">
                        <a:defRPr sz="1300" b="1">
                          <a:solidFill>
                            <a:srgbClr val="F8FAFC"/>
                          </a:solidFill>
                          <a:latin typeface="Arial"/>
                        </a:defRPr>
                      </a:pPr>
                      <a:r>
                        <a:t>AlexNet (2012)</a:t>
                      </a:r>
                    </a:p>
                  </a:txBody>
                  <a:tcPr>
                    <a:solidFill>
                      <a:srgbClr val="0F172A"/>
                    </a:solidFill>
                  </a:tcPr>
                </a:tc>
                <a:tc>
                  <a:txBody>
                    <a:bodyPr/>
                    <a:lstStyle/>
                    <a:p>
                      <a:pPr algn="ctr">
                        <a:defRPr sz="1300" b="1">
                          <a:solidFill>
                            <a:srgbClr val="F8FAFC"/>
                          </a:solidFill>
                          <a:latin typeface="Arial"/>
                        </a:defRPr>
                      </a:pPr>
                      <a:r>
                        <a:t>Evolutionary Impact / Relevance</a:t>
                      </a:r>
                    </a:p>
                  </a:txBody>
                  <a:tcPr>
                    <a:solidFill>
                      <a:srgbClr val="0F172A"/>
                    </a:solidFill>
                  </a:tcPr>
                </a:tc>
              </a:tr>
              <a:tr h="548640">
                <a:tc>
                  <a:txBody>
                    <a:bodyPr/>
                    <a:lstStyle/>
                    <a:p>
                      <a:pPr algn="l">
                        <a:defRPr sz="1100" b="1">
                          <a:solidFill>
                            <a:srgbClr val="0F172A"/>
                          </a:solidFill>
                          <a:latin typeface="Arial"/>
                        </a:defRPr>
                      </a:pPr>
                      <a:r>
                        <a:t>Input Dimensions</a:t>
                      </a:r>
                    </a:p>
                  </a:txBody>
                  <a:tcPr>
                    <a:solidFill>
                      <a:srgbClr val="F1F5F9"/>
                    </a:solidFill>
                  </a:tcPr>
                </a:tc>
                <a:tc>
                  <a:txBody>
                    <a:bodyPr/>
                    <a:lstStyle/>
                    <a:p>
                      <a:pPr algn="l">
                        <a:defRPr sz="1100">
                          <a:solidFill>
                            <a:srgbClr val="0F172A"/>
                          </a:solidFill>
                          <a:latin typeface="Arial"/>
                        </a:defRPr>
                      </a:pPr>
                      <a:r>
                        <a:t>32 x 32 x 1 (Grayscale)</a:t>
                      </a:r>
                    </a:p>
                  </a:txBody>
                  <a:tcPr>
                    <a:solidFill>
                      <a:srgbClr val="F1F5F9"/>
                    </a:solidFill>
                  </a:tcPr>
                </a:tc>
                <a:tc>
                  <a:txBody>
                    <a:bodyPr/>
                    <a:lstStyle/>
                    <a:p>
                      <a:pPr algn="l">
                        <a:defRPr sz="1100">
                          <a:solidFill>
                            <a:srgbClr val="0F172A"/>
                          </a:solidFill>
                          <a:latin typeface="Arial"/>
                        </a:defRPr>
                      </a:pPr>
                      <a:r>
                        <a:t>224 x 224 x 3 (RGB)</a:t>
                      </a:r>
                    </a:p>
                  </a:txBody>
                  <a:tcPr>
                    <a:solidFill>
                      <a:srgbClr val="F1F5F9"/>
                    </a:solidFill>
                  </a:tcPr>
                </a:tc>
                <a:tc>
                  <a:txBody>
                    <a:bodyPr/>
                    <a:lstStyle/>
                    <a:p>
                      <a:pPr algn="l">
                        <a:defRPr sz="1100">
                          <a:solidFill>
                            <a:srgbClr val="0F172A"/>
                          </a:solidFill>
                          <a:latin typeface="Arial"/>
                        </a:defRPr>
                      </a:pPr>
                      <a:r>
                        <a:t>Handles rich generalized textures &amp; colors</a:t>
                      </a:r>
                    </a:p>
                  </a:txBody>
                  <a:tcPr>
                    <a:solidFill>
                      <a:srgbClr val="F1F5F9"/>
                    </a:solidFill>
                  </a:tcPr>
                </a:tc>
              </a:tr>
              <a:tr h="548640">
                <a:tc>
                  <a:txBody>
                    <a:bodyPr/>
                    <a:lstStyle/>
                    <a:p>
                      <a:pPr algn="l">
                        <a:defRPr sz="1100" b="1">
                          <a:solidFill>
                            <a:srgbClr val="0F172A"/>
                          </a:solidFill>
                          <a:latin typeface="Arial"/>
                        </a:defRPr>
                      </a:pPr>
                      <a:r>
                        <a:t>Activation Type</a:t>
                      </a:r>
                    </a:p>
                  </a:txBody>
                  <a:tcPr>
                    <a:solidFill>
                      <a:srgbClr val="E2E8F0"/>
                    </a:solidFill>
                  </a:tcPr>
                </a:tc>
                <a:tc>
                  <a:txBody>
                    <a:bodyPr/>
                    <a:lstStyle/>
                    <a:p>
                      <a:pPr algn="l">
                        <a:defRPr sz="1100">
                          <a:solidFill>
                            <a:srgbClr val="0F172A"/>
                          </a:solidFill>
                          <a:latin typeface="Arial"/>
                        </a:defRPr>
                      </a:pPr>
                      <a:r>
                        <a:t>Sigmoid / Tanh</a:t>
                      </a:r>
                    </a:p>
                  </a:txBody>
                  <a:tcPr>
                    <a:solidFill>
                      <a:srgbClr val="E2E8F0"/>
                    </a:solidFill>
                  </a:tcPr>
                </a:tc>
                <a:tc>
                  <a:txBody>
                    <a:bodyPr/>
                    <a:lstStyle/>
                    <a:p>
                      <a:pPr algn="l">
                        <a:defRPr sz="1100">
                          <a:solidFill>
                            <a:srgbClr val="0F172A"/>
                          </a:solidFill>
                          <a:latin typeface="Arial"/>
                        </a:defRPr>
                      </a:pPr>
                      <a:r>
                        <a:t>ReLU (Rectified Linear Unit)</a:t>
                      </a:r>
                    </a:p>
                  </a:txBody>
                  <a:tcPr>
                    <a:solidFill>
                      <a:srgbClr val="E2E8F0"/>
                    </a:solidFill>
                  </a:tcPr>
                </a:tc>
                <a:tc>
                  <a:txBody>
                    <a:bodyPr/>
                    <a:lstStyle/>
                    <a:p>
                      <a:pPr algn="l">
                        <a:defRPr sz="1100">
                          <a:solidFill>
                            <a:srgbClr val="0F172A"/>
                          </a:solidFill>
                          <a:latin typeface="Arial"/>
                        </a:defRPr>
                      </a:pPr>
                      <a:r>
                        <a:t>Prevents vanishing gradient; 6x convergence</a:t>
                      </a:r>
                    </a:p>
                  </a:txBody>
                  <a:tcPr>
                    <a:solidFill>
                      <a:srgbClr val="E2E8F0"/>
                    </a:solidFill>
                  </a:tcPr>
                </a:tc>
              </a:tr>
              <a:tr h="548640">
                <a:tc>
                  <a:txBody>
                    <a:bodyPr/>
                    <a:lstStyle/>
                    <a:p>
                      <a:pPr algn="l">
                        <a:defRPr sz="1100" b="1">
                          <a:solidFill>
                            <a:srgbClr val="0F172A"/>
                          </a:solidFill>
                          <a:latin typeface="Arial"/>
                        </a:defRPr>
                      </a:pPr>
                      <a:r>
                        <a:t>Pooling Method</a:t>
                      </a:r>
                    </a:p>
                  </a:txBody>
                  <a:tcPr>
                    <a:solidFill>
                      <a:srgbClr val="F1F5F9"/>
                    </a:solidFill>
                  </a:tcPr>
                </a:tc>
                <a:tc>
                  <a:txBody>
                    <a:bodyPr/>
                    <a:lstStyle/>
                    <a:p>
                      <a:pPr algn="l">
                        <a:defRPr sz="1100">
                          <a:solidFill>
                            <a:srgbClr val="0F172A"/>
                          </a:solidFill>
                          <a:latin typeface="Arial"/>
                        </a:defRPr>
                      </a:pPr>
                      <a:r>
                        <a:t>Average Pooling (learnable)</a:t>
                      </a:r>
                    </a:p>
                  </a:txBody>
                  <a:tcPr>
                    <a:solidFill>
                      <a:srgbClr val="F1F5F9"/>
                    </a:solidFill>
                  </a:tcPr>
                </a:tc>
                <a:tc>
                  <a:txBody>
                    <a:bodyPr/>
                    <a:lstStyle/>
                    <a:p>
                      <a:pPr algn="l">
                        <a:defRPr sz="1100">
                          <a:solidFill>
                            <a:srgbClr val="0F172A"/>
                          </a:solidFill>
                          <a:latin typeface="Arial"/>
                        </a:defRPr>
                      </a:pPr>
                      <a:r>
                        <a:t>Overlapping Max Pooling</a:t>
                      </a:r>
                    </a:p>
                  </a:txBody>
                  <a:tcPr>
                    <a:solidFill>
                      <a:srgbClr val="F1F5F9"/>
                    </a:solidFill>
                  </a:tcPr>
                </a:tc>
                <a:tc>
                  <a:txBody>
                    <a:bodyPr/>
                    <a:lstStyle/>
                    <a:p>
                      <a:pPr algn="l">
                        <a:defRPr sz="1100">
                          <a:solidFill>
                            <a:srgbClr val="0F172A"/>
                          </a:solidFill>
                          <a:latin typeface="Arial"/>
                        </a:defRPr>
                      </a:pPr>
                      <a:r>
                        <a:t>Reduces spatial loss, controls overfitting</a:t>
                      </a:r>
                    </a:p>
                  </a:txBody>
                  <a:tcPr>
                    <a:solidFill>
                      <a:srgbClr val="F1F5F9"/>
                    </a:solidFill>
                  </a:tcPr>
                </a:tc>
              </a:tr>
              <a:tr h="548640">
                <a:tc>
                  <a:txBody>
                    <a:bodyPr/>
                    <a:lstStyle/>
                    <a:p>
                      <a:pPr algn="l">
                        <a:defRPr sz="1100" b="1">
                          <a:solidFill>
                            <a:srgbClr val="0F172A"/>
                          </a:solidFill>
                          <a:latin typeface="Arial"/>
                        </a:defRPr>
                      </a:pPr>
                      <a:r>
                        <a:t>Regularization</a:t>
                      </a:r>
                    </a:p>
                  </a:txBody>
                  <a:tcPr>
                    <a:solidFill>
                      <a:srgbClr val="E2E8F0"/>
                    </a:solidFill>
                  </a:tcPr>
                </a:tc>
                <a:tc>
                  <a:txBody>
                    <a:bodyPr/>
                    <a:lstStyle/>
                    <a:p>
                      <a:pPr algn="l">
                        <a:defRPr sz="1100">
                          <a:solidFill>
                            <a:srgbClr val="0F172A"/>
                          </a:solidFill>
                          <a:latin typeface="Arial"/>
                        </a:defRPr>
                      </a:pPr>
                      <a:r>
                        <a:t>None (Weight decay only)</a:t>
                      </a:r>
                    </a:p>
                  </a:txBody>
                  <a:tcPr>
                    <a:solidFill>
                      <a:srgbClr val="E2E8F0"/>
                    </a:solidFill>
                  </a:tcPr>
                </a:tc>
                <a:tc>
                  <a:txBody>
                    <a:bodyPr/>
                    <a:lstStyle/>
                    <a:p>
                      <a:pPr algn="l">
                        <a:defRPr sz="1100">
                          <a:solidFill>
                            <a:srgbClr val="0F172A"/>
                          </a:solidFill>
                          <a:latin typeface="Arial"/>
                        </a:defRPr>
                      </a:pPr>
                      <a:r>
                        <a:t>Dropout (0.5) &amp; Augmentation</a:t>
                      </a:r>
                    </a:p>
                  </a:txBody>
                  <a:tcPr>
                    <a:solidFill>
                      <a:srgbClr val="E2E8F0"/>
                    </a:solidFill>
                  </a:tcPr>
                </a:tc>
                <a:tc>
                  <a:txBody>
                    <a:bodyPr/>
                    <a:lstStyle/>
                    <a:p>
                      <a:pPr algn="l">
                        <a:defRPr sz="1100">
                          <a:solidFill>
                            <a:srgbClr val="0F172A"/>
                          </a:solidFill>
                          <a:latin typeface="Arial"/>
                        </a:defRPr>
                      </a:pPr>
                      <a:r>
                        <a:t>Permits scaling layers without overfitting</a:t>
                      </a:r>
                    </a:p>
                  </a:txBody>
                  <a:tcPr>
                    <a:solidFill>
                      <a:srgbClr val="E2E8F0"/>
                    </a:solidFill>
                  </a:tcPr>
                </a:tc>
              </a:tr>
              <a:tr h="548640">
                <a:tc>
                  <a:txBody>
                    <a:bodyPr/>
                    <a:lstStyle/>
                    <a:p>
                      <a:pPr algn="l">
                        <a:defRPr sz="1100" b="1">
                          <a:solidFill>
                            <a:srgbClr val="0F172A"/>
                          </a:solidFill>
                          <a:latin typeface="Arial"/>
                        </a:defRPr>
                      </a:pPr>
                      <a:r>
                        <a:t>Normalization</a:t>
                      </a:r>
                    </a:p>
                  </a:txBody>
                  <a:tcPr>
                    <a:solidFill>
                      <a:srgbClr val="F1F5F9"/>
                    </a:solidFill>
                  </a:tcPr>
                </a:tc>
                <a:tc>
                  <a:txBody>
                    <a:bodyPr/>
                    <a:lstStyle/>
                    <a:p>
                      <a:pPr algn="l">
                        <a:defRPr sz="1100">
                          <a:solidFill>
                            <a:srgbClr val="0F172A"/>
                          </a:solidFill>
                          <a:latin typeface="Arial"/>
                        </a:defRPr>
                      </a:pPr>
                      <a:r>
                        <a:t>None</a:t>
                      </a:r>
                    </a:p>
                  </a:txBody>
                  <a:tcPr>
                    <a:solidFill>
                      <a:srgbClr val="F1F5F9"/>
                    </a:solidFill>
                  </a:tcPr>
                </a:tc>
                <a:tc>
                  <a:txBody>
                    <a:bodyPr/>
                    <a:lstStyle/>
                    <a:p>
                      <a:pPr algn="l">
                        <a:defRPr sz="1100">
                          <a:solidFill>
                            <a:srgbClr val="0F172A"/>
                          </a:solidFill>
                          <a:latin typeface="Arial"/>
                        </a:defRPr>
                      </a:pPr>
                      <a:r>
                        <a:t>Local Response Normalization</a:t>
                      </a:r>
                    </a:p>
                  </a:txBody>
                  <a:tcPr>
                    <a:solidFill>
                      <a:srgbClr val="F1F5F9"/>
                    </a:solidFill>
                  </a:tcPr>
                </a:tc>
                <a:tc>
                  <a:txBody>
                    <a:bodyPr/>
                    <a:lstStyle/>
                    <a:p>
                      <a:pPr algn="l">
                        <a:defRPr sz="1100">
                          <a:solidFill>
                            <a:srgbClr val="0F172A"/>
                          </a:solidFill>
                          <a:latin typeface="Arial"/>
                        </a:defRPr>
                      </a:pPr>
                      <a:r>
                        <a:t>Promotes competitive neuron generalization</a:t>
                      </a:r>
                    </a:p>
                  </a:txBody>
                  <a:tcPr>
                    <a:solidFill>
                      <a:srgbClr val="F1F5F9"/>
                    </a:solidFill>
                  </a:tcPr>
                </a:tc>
              </a:tr>
              <a:tr h="548640">
                <a:tc>
                  <a:txBody>
                    <a:bodyPr/>
                    <a:lstStyle/>
                    <a:p>
                      <a:pPr algn="l">
                        <a:defRPr sz="1100" b="1">
                          <a:solidFill>
                            <a:srgbClr val="0F172A"/>
                          </a:solidFill>
                          <a:latin typeface="Arial"/>
                        </a:defRPr>
                      </a:pPr>
                      <a:r>
                        <a:t>Compute Target</a:t>
                      </a:r>
                    </a:p>
                  </a:txBody>
                  <a:tcPr>
                    <a:solidFill>
                      <a:srgbClr val="E2E8F0"/>
                    </a:solidFill>
                  </a:tcPr>
                </a:tc>
                <a:tc>
                  <a:txBody>
                    <a:bodyPr/>
                    <a:lstStyle/>
                    <a:p>
                      <a:pPr algn="l">
                        <a:defRPr sz="1100">
                          <a:solidFill>
                            <a:srgbClr val="0F172A"/>
                          </a:solidFill>
                          <a:latin typeface="Arial"/>
                        </a:defRPr>
                      </a:pPr>
                      <a:r>
                        <a:t>CPU</a:t>
                      </a:r>
                    </a:p>
                  </a:txBody>
                  <a:tcPr>
                    <a:solidFill>
                      <a:srgbClr val="E2E8F0"/>
                    </a:solidFill>
                  </a:tcPr>
                </a:tc>
                <a:tc>
                  <a:txBody>
                    <a:bodyPr/>
                    <a:lstStyle/>
                    <a:p>
                      <a:pPr algn="l">
                        <a:defRPr sz="1100">
                          <a:solidFill>
                            <a:srgbClr val="0F172A"/>
                          </a:solidFill>
                          <a:latin typeface="Arial"/>
                        </a:defRPr>
                      </a:pPr>
                      <a:r>
                        <a:t>Dual GPU Parallelization</a:t>
                      </a:r>
                    </a:p>
                  </a:txBody>
                  <a:tcPr>
                    <a:solidFill>
                      <a:srgbClr val="E2E8F0"/>
                    </a:solidFill>
                  </a:tcPr>
                </a:tc>
                <a:tc>
                  <a:txBody>
                    <a:bodyPr/>
                    <a:lstStyle/>
                    <a:p>
                      <a:pPr algn="l">
                        <a:defRPr sz="1100">
                          <a:solidFill>
                            <a:srgbClr val="0F172A"/>
                          </a:solidFill>
                          <a:latin typeface="Arial"/>
                        </a:defRPr>
                      </a:pPr>
                      <a:r>
                        <a:t>Unlocks scaling parameters from 60K to 60M</a:t>
                      </a:r>
                    </a:p>
                  </a:txBody>
                  <a:tcPr>
                    <a:solidFill>
                      <a:srgbClr val="E2E8F0"/>
                    </a:solidFill>
                  </a:tcPr>
                </a:tc>
              </a:tr>
              <a:tr h="548640">
                <a:tc>
                  <a:txBody>
                    <a:bodyPr/>
                    <a:lstStyle/>
                    <a:p>
                      <a:pPr algn="l">
                        <a:defRPr sz="1100" b="1">
                          <a:solidFill>
                            <a:srgbClr val="0F172A"/>
                          </a:solidFill>
                          <a:latin typeface="Arial"/>
                        </a:defRPr>
                      </a:pPr>
                      <a:r>
                        <a:t>Total Parameters</a:t>
                      </a:r>
                    </a:p>
                  </a:txBody>
                  <a:tcPr>
                    <a:solidFill>
                      <a:srgbClr val="F1F5F9"/>
                    </a:solidFill>
                  </a:tcPr>
                </a:tc>
                <a:tc>
                  <a:txBody>
                    <a:bodyPr/>
                    <a:lstStyle/>
                    <a:p>
                      <a:pPr algn="l">
                        <a:defRPr sz="1100">
                          <a:solidFill>
                            <a:srgbClr val="0F172A"/>
                          </a:solidFill>
                          <a:latin typeface="Arial"/>
                        </a:defRPr>
                      </a:pPr>
                      <a:r>
                        <a:t>~60,000</a:t>
                      </a:r>
                    </a:p>
                  </a:txBody>
                  <a:tcPr>
                    <a:solidFill>
                      <a:srgbClr val="F1F5F9"/>
                    </a:solidFill>
                  </a:tcPr>
                </a:tc>
                <a:tc>
                  <a:txBody>
                    <a:bodyPr/>
                    <a:lstStyle/>
                    <a:p>
                      <a:pPr algn="l">
                        <a:defRPr sz="1100">
                          <a:solidFill>
                            <a:srgbClr val="0F172A"/>
                          </a:solidFill>
                          <a:latin typeface="Arial"/>
                        </a:defRPr>
                      </a:pPr>
                      <a:r>
                        <a:t>~60,000,000</a:t>
                      </a:r>
                    </a:p>
                  </a:txBody>
                  <a:tcPr>
                    <a:solidFill>
                      <a:srgbClr val="F1F5F9"/>
                    </a:solidFill>
                  </a:tcPr>
                </a:tc>
                <a:tc>
                  <a:txBody>
                    <a:bodyPr/>
                    <a:lstStyle/>
                    <a:p>
                      <a:pPr algn="l">
                        <a:defRPr sz="1100">
                          <a:solidFill>
                            <a:srgbClr val="0F172A"/>
                          </a:solidFill>
                          <a:latin typeface="Arial"/>
                        </a:defRPr>
                      </a:pPr>
                      <a:r>
                        <a:t>1000x capacity increase for complex spaces</a:t>
                      </a:r>
                    </a:p>
                  </a:txBody>
                  <a:tcPr>
                    <a:solidFill>
                      <a:srgbClr val="F1F5F9"/>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9144000" cy="365760"/>
          </a:xfrm>
          <a:prstGeom prst="rect">
            <a:avLst/>
          </a:prstGeom>
          <a:noFill/>
        </p:spPr>
        <p:txBody>
          <a:bodyPr wrap="square" lIns="0" tIns="0" bIns="0" rIns="0">
            <a:spAutoFit/>
          </a:bodyPr>
          <a:lstStyle/>
          <a:p>
            <a:pPr>
              <a:defRPr sz="1000" b="1">
                <a:solidFill>
                  <a:srgbClr val="D97706"/>
                </a:solidFill>
                <a:latin typeface="Arial"/>
              </a:defRPr>
            </a:pPr>
            <a:r>
              <a:t>THEORETICAL INSIGHTS</a:t>
            </a:r>
          </a:p>
        </p:txBody>
      </p:sp>
      <p:sp>
        <p:nvSpPr>
          <p:cNvPr id="3" name="TextBox 2"/>
          <p:cNvSpPr txBox="1"/>
          <p:nvPr/>
        </p:nvSpPr>
        <p:spPr>
          <a:xfrm>
            <a:off x="731520" y="640080"/>
            <a:ext cx="10515600" cy="731520"/>
          </a:xfrm>
          <a:prstGeom prst="rect">
            <a:avLst/>
          </a:prstGeom>
          <a:noFill/>
        </p:spPr>
        <p:txBody>
          <a:bodyPr wrap="square" lIns="0" tIns="0" bIns="0" rIns="0">
            <a:spAutoFit/>
          </a:bodyPr>
          <a:lstStyle/>
          <a:p>
            <a:pPr>
              <a:defRPr sz="3200" b="1">
                <a:solidFill>
                  <a:srgbClr val="0F172A"/>
                </a:solidFill>
                <a:latin typeface="Arial"/>
              </a:defRPr>
            </a:pPr>
            <a:r>
              <a:t>Deep Analysis: Drivers of the Evolution</a:t>
            </a:r>
          </a:p>
        </p:txBody>
      </p:sp>
      <p:sp>
        <p:nvSpPr>
          <p:cNvPr id="4" name="Rounded Rectangle 3"/>
          <p:cNvSpPr/>
          <p:nvPr/>
        </p:nvSpPr>
        <p:spPr>
          <a:xfrm>
            <a:off x="731520" y="1828800"/>
            <a:ext cx="3291840" cy="411480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1800" b="1">
                <a:solidFill>
                  <a:srgbClr val="2563EB"/>
                </a:solidFill>
              </a:defRPr>
            </a:pPr>
            <a:r>
              <a:t>1. Gradient Dynamics</a:t>
            </a:r>
          </a:p>
          <a:p>
            <a:pPr>
              <a:defRPr sz="1300">
                <a:solidFill>
                  <a:srgbClr val="0F172A"/>
                </a:solidFill>
              </a:defRPr>
            </a:pPr>
            <a:r>
              <a:t>Tanh / Sigmoid activations in LeNet-5 saturate when input is high, causing vanishing gradients.</a:t>
            </a:r>
            <a:br/>
            <a:br/>
            <a:r>
              <a:t>ReLU in AlexNet operates on f(x) = max(0, x), keeping gradients constant for active values and permitting scaling to 8+ deep layers without saturation.</a:t>
            </a:r>
          </a:p>
        </p:txBody>
      </p:sp>
      <p:sp>
        <p:nvSpPr>
          <p:cNvPr id="5" name="Rounded Rectangle 4"/>
          <p:cNvSpPr/>
          <p:nvPr/>
        </p:nvSpPr>
        <p:spPr>
          <a:xfrm>
            <a:off x="4389120" y="1828800"/>
            <a:ext cx="3291840" cy="4114800"/>
          </a:xfrm>
          <a:prstGeom prst="roundRect">
            <a:avLst/>
          </a:prstGeom>
          <a:solidFill>
            <a:srgbClr val="F1F5F9"/>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1800" b="1">
                <a:solidFill>
                  <a:srgbClr val="D97706"/>
                </a:solidFill>
              </a:defRPr>
            </a:pPr>
            <a:r>
              <a:t>2. Regularization &amp; Noise</a:t>
            </a:r>
          </a:p>
          <a:p>
            <a:pPr>
              <a:defRPr sz="1300">
                <a:solidFill>
                  <a:srgbClr val="0F172A"/>
                </a:solidFill>
              </a:defRPr>
            </a:pPr>
            <a:r>
              <a:t>With 60M parameters, AlexNet would overfit instantly on ImageNet.</a:t>
            </a:r>
            <a:br/>
            <a:br/>
            <a:r>
              <a:t>By dropping out 50% of neuronal features on standard layers, Dropout controls overfitting and forces the network to learn robust co-adaptations, while LeNet relied solely on weight decay.</a:t>
            </a:r>
          </a:p>
        </p:txBody>
      </p:sp>
      <p:sp>
        <p:nvSpPr>
          <p:cNvPr id="6" name="Rounded Rectangle 5"/>
          <p:cNvSpPr/>
          <p:nvPr/>
        </p:nvSpPr>
        <p:spPr>
          <a:xfrm>
            <a:off x="8046720" y="1828800"/>
            <a:ext cx="3291840" cy="4114800"/>
          </a:xfrm>
          <a:prstGeom prst="roundRect">
            <a:avLst/>
          </a:prstGeom>
          <a:solidFill>
            <a:srgbClr val="F1F5F9"/>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400"/>
              </a:spcAft>
              <a:defRPr sz="1800" b="1">
                <a:solidFill>
                  <a:srgbClr val="0F172A"/>
                </a:solidFill>
              </a:defRPr>
            </a:pPr>
            <a:r>
              <a:t>3. Parallel Compute</a:t>
            </a:r>
          </a:p>
          <a:p>
            <a:pPr>
              <a:defRPr sz="1300">
                <a:solidFill>
                  <a:srgbClr val="0F172A"/>
                </a:solidFill>
              </a:defRPr>
            </a:pPr>
            <a:r>
              <a:t>Early networks were constrained strictly by single-core CPUs.</a:t>
            </a:r>
            <a:br/>
            <a:br/>
            <a:r>
              <a:t>AlexNet's success is due to GPU implementations that distribute high filter workloads across independent cores, opening the doors to huge scale and parameters.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9144000" cy="365760"/>
          </a:xfrm>
          <a:prstGeom prst="rect">
            <a:avLst/>
          </a:prstGeom>
          <a:noFill/>
        </p:spPr>
        <p:txBody>
          <a:bodyPr wrap="square" lIns="0" tIns="0" bIns="0" rIns="0">
            <a:spAutoFit/>
          </a:bodyPr>
          <a:lstStyle/>
          <a:p>
            <a:pPr>
              <a:defRPr sz="1000" b="1">
                <a:solidFill>
                  <a:srgbClr val="D97706"/>
                </a:solidFill>
                <a:latin typeface="Arial"/>
              </a:defRPr>
            </a:pPr>
            <a:r>
              <a:t>CIFAR-10 EVALUATION</a:t>
            </a:r>
          </a:p>
        </p:txBody>
      </p:sp>
      <p:sp>
        <p:nvSpPr>
          <p:cNvPr id="3" name="TextBox 2"/>
          <p:cNvSpPr txBox="1"/>
          <p:nvPr/>
        </p:nvSpPr>
        <p:spPr>
          <a:xfrm>
            <a:off x="731520" y="640080"/>
            <a:ext cx="10515600" cy="731520"/>
          </a:xfrm>
          <a:prstGeom prst="rect">
            <a:avLst/>
          </a:prstGeom>
          <a:noFill/>
        </p:spPr>
        <p:txBody>
          <a:bodyPr wrap="square" lIns="0" tIns="0" bIns="0" rIns="0">
            <a:spAutoFit/>
          </a:bodyPr>
          <a:lstStyle/>
          <a:p>
            <a:pPr>
              <a:defRPr sz="3200" b="1">
                <a:solidFill>
                  <a:srgbClr val="0F172A"/>
                </a:solidFill>
                <a:latin typeface="Arial"/>
              </a:defRPr>
            </a:pPr>
            <a:r>
              <a:t>Experimental Validation Design</a:t>
            </a:r>
          </a:p>
        </p:txBody>
      </p:sp>
      <p:sp>
        <p:nvSpPr>
          <p:cNvPr id="4" name="TextBox 3"/>
          <p:cNvSpPr txBox="1"/>
          <p:nvPr/>
        </p:nvSpPr>
        <p:spPr>
          <a:xfrm>
            <a:off x="731520" y="1645920"/>
            <a:ext cx="10698480" cy="4572000"/>
          </a:xfrm>
          <a:prstGeom prst="rect">
            <a:avLst/>
          </a:prstGeom>
          <a:noFill/>
        </p:spPr>
        <p:txBody>
          <a:bodyPr wrap="square">
            <a:spAutoFit/>
          </a:bodyPr>
          <a:lstStyle/>
          <a:p>
            <a:pPr>
              <a:spcAft>
                <a:spcPts val="2000"/>
              </a:spcAft>
              <a:defRPr sz="1800">
                <a:solidFill>
                  <a:srgbClr val="64748B"/>
                </a:solidFill>
              </a:defRPr>
            </a:pPr>
            <a:r>
              <a:t>Evaluating architectures fairly using standard CIFAR-10 images on Google Colab (Tesla T4 GPU).</a:t>
            </a:r>
          </a:p>
          <a:p>
            <a:pPr>
              <a:spcAft>
                <a:spcPts val="600"/>
              </a:spcAft>
              <a:defRPr sz="1600" b="1"/>
            </a:pPr>
            <a:r>
              <a:t>• Dataset Structure &amp; Target Classes:</a:t>
            </a:r>
          </a:p>
          <a:p>
            <a:pPr>
              <a:spcAft>
                <a:spcPts val="1400"/>
              </a:spcAft>
              <a:defRPr sz="1400">
                <a:solidFill>
                  <a:srgbClr val="64748B"/>
                </a:solidFill>
              </a:defRPr>
            </a:pPr>
            <a:r>
              <a:t>    60,000 color images (3 channels) across 10 balanced semantic classes.</a:t>
            </a:r>
          </a:p>
          <a:p>
            <a:pPr>
              <a:spcAft>
                <a:spcPts val="600"/>
              </a:spcAft>
              <a:defRPr sz="1600" b="1"/>
            </a:pPr>
            <a:r>
              <a:t>• LeNet-5 Setup (Input size 32x32):</a:t>
            </a:r>
          </a:p>
          <a:p>
            <a:pPr>
              <a:spcAft>
                <a:spcPts val="1400"/>
              </a:spcAft>
              <a:defRPr sz="1400">
                <a:solidFill>
                  <a:srgbClr val="64748B"/>
                </a:solidFill>
              </a:defRPr>
            </a:pPr>
            <a:r>
              <a:t>    Modified channels from 1 to 3 to handle RGB. Trained with Adam (learning rate 0.001) for 5 epochs with batch size 128.</a:t>
            </a:r>
          </a:p>
          <a:p>
            <a:pPr>
              <a:spcAft>
                <a:spcPts val="600"/>
              </a:spcAft>
              <a:defRPr sz="1600" b="1"/>
            </a:pPr>
            <a:r>
              <a:t>• AlexNet Setup (Input size 224x224):</a:t>
            </a:r>
          </a:p>
          <a:p>
            <a:pPr>
              <a:defRPr sz="1400">
                <a:solidFill>
                  <a:srgbClr val="64748B"/>
                </a:solidFill>
              </a:defRPr>
            </a:pPr>
            <a:r>
              <a:t>    Images scaled up dynamically to 224x224. Trained with Adam (learning rate 0.0001) for 5 epochs with batch size 64.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9144000" cy="365760"/>
          </a:xfrm>
          <a:prstGeom prst="rect">
            <a:avLst/>
          </a:prstGeom>
          <a:noFill/>
        </p:spPr>
        <p:txBody>
          <a:bodyPr wrap="square" lIns="0" tIns="0" bIns="0" rIns="0">
            <a:spAutoFit/>
          </a:bodyPr>
          <a:lstStyle/>
          <a:p>
            <a:pPr>
              <a:defRPr sz="1000" b="1">
                <a:solidFill>
                  <a:srgbClr val="D97706"/>
                </a:solidFill>
                <a:latin typeface="Arial"/>
              </a:defRPr>
            </a:pPr>
            <a:r>
              <a:t>TRAINING RESULTS</a:t>
            </a:r>
          </a:p>
        </p:txBody>
      </p:sp>
      <p:sp>
        <p:nvSpPr>
          <p:cNvPr id="3" name="TextBox 2"/>
          <p:cNvSpPr txBox="1"/>
          <p:nvPr/>
        </p:nvSpPr>
        <p:spPr>
          <a:xfrm>
            <a:off x="731520" y="640080"/>
            <a:ext cx="10515600" cy="731520"/>
          </a:xfrm>
          <a:prstGeom prst="rect">
            <a:avLst/>
          </a:prstGeom>
          <a:noFill/>
        </p:spPr>
        <p:txBody>
          <a:bodyPr wrap="square" lIns="0" tIns="0" bIns="0" rIns="0">
            <a:spAutoFit/>
          </a:bodyPr>
          <a:lstStyle/>
          <a:p>
            <a:pPr>
              <a:defRPr sz="3200" b="1">
                <a:solidFill>
                  <a:srgbClr val="0F172A"/>
                </a:solidFill>
                <a:latin typeface="Arial"/>
              </a:defRPr>
            </a:pPr>
            <a:r>
              <a:t>Empirical Performance: Convergence &amp; Loss</a:t>
            </a:r>
          </a:p>
        </p:txBody>
      </p:sp>
      <p:sp>
        <p:nvSpPr>
          <p:cNvPr id="4" name="TextBox 3"/>
          <p:cNvSpPr txBox="1"/>
          <p:nvPr/>
        </p:nvSpPr>
        <p:spPr>
          <a:xfrm>
            <a:off x="731520" y="1645920"/>
            <a:ext cx="4754880" cy="4389120"/>
          </a:xfrm>
          <a:prstGeom prst="rect">
            <a:avLst/>
          </a:prstGeom>
          <a:noFill/>
        </p:spPr>
        <p:txBody>
          <a:bodyPr wrap="square">
            <a:spAutoFit/>
          </a:bodyPr>
          <a:lstStyle/>
          <a:p>
            <a:pPr>
              <a:spcAft>
                <a:spcPts val="1400"/>
              </a:spcAft>
              <a:defRPr sz="1800" b="1">
                <a:solidFill>
                  <a:srgbClr val="2563EB"/>
                </a:solidFill>
              </a:defRPr>
            </a:pPr>
            <a:r>
              <a:t>Learning Dynamics &amp; Optimization Curve:</a:t>
            </a:r>
          </a:p>
          <a:p>
            <a:pPr>
              <a:spcAft>
                <a:spcPts val="400"/>
              </a:spcAft>
              <a:defRPr sz="1500" b="1"/>
            </a:pPr>
            <a:r>
              <a:t>• Loss Minimization (Epoch 5):</a:t>
            </a:r>
          </a:p>
          <a:p>
            <a:pPr>
              <a:spcAft>
                <a:spcPts val="1200"/>
              </a:spcAft>
              <a:defRPr sz="1300" b="1">
                <a:solidFill>
                  <a:srgbClr val="0F172A"/>
                </a:solidFill>
              </a:defRPr>
            </a:pPr>
            <a:r>
              <a:t>    - AlexNet: 0.5577 (over 2.1x lower loss!)</a:t>
            </a:r>
            <a:br/>
            <a:r>
              <a:t>    - LeNet-5: 1.2130</a:t>
            </a:r>
          </a:p>
          <a:p>
            <a:pPr>
              <a:spcAft>
                <a:spcPts val="400"/>
              </a:spcAft>
              <a:defRPr sz="1500" b="1"/>
            </a:pPr>
            <a:r>
              <a:t>• Test Validation Accuracy (Epoch 5):</a:t>
            </a:r>
          </a:p>
          <a:p>
            <a:pPr>
              <a:spcAft>
                <a:spcPts val="1200"/>
              </a:spcAft>
              <a:defRPr sz="1300" b="1">
                <a:solidFill>
                  <a:srgbClr val="0F172A"/>
                </a:solidFill>
              </a:defRPr>
            </a:pPr>
            <a:r>
              <a:t>    - AlexNet: 78.08% (+22.39% absolute gain!)</a:t>
            </a:r>
            <a:br/>
            <a:r>
              <a:t>    - LeNet-5: 55.69%</a:t>
            </a:r>
          </a:p>
          <a:p>
            <a:pPr>
              <a:spcAft>
                <a:spcPts val="400"/>
              </a:spcAft>
              <a:defRPr sz="1500" b="1"/>
            </a:pPr>
            <a:r>
              <a:t>• Computational Epoch Time (Tesla T4):</a:t>
            </a:r>
          </a:p>
          <a:p>
            <a:pPr>
              <a:defRPr sz="1300">
                <a:solidFill>
                  <a:srgbClr val="64748B"/>
                </a:solidFill>
              </a:defRPr>
            </a:pPr>
            <a:r>
              <a:t>    - LeNet-5: 13.71 seconds / epoch</a:t>
            </a:r>
            <a:br/>
            <a:r>
              <a:t>    - AlexNet: 133.06 seconds / epoch (9.7x slower)</a:t>
            </a:r>
            <a:br/>
            <a:r>
              <a:t>    Tradeoff: Accuracy gains vs. spatial resize workloads.</a:t>
            </a:r>
          </a:p>
        </p:txBody>
      </p:sp>
      <p:pic>
        <p:nvPicPr>
          <p:cNvPr id="5" name="Picture 4" descr="training loss and test accuracy comparison.png"/>
          <p:cNvPicPr>
            <a:picLocks noChangeAspect="1"/>
          </p:cNvPicPr>
          <p:nvPr/>
        </p:nvPicPr>
        <p:blipFill>
          <a:blip r:embed="rId2"/>
          <a:stretch>
            <a:fillRect/>
          </a:stretch>
        </p:blipFill>
        <p:spPr>
          <a:xfrm>
            <a:off x="5852160" y="2011680"/>
            <a:ext cx="5577840" cy="31089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9144000" cy="365760"/>
          </a:xfrm>
          <a:prstGeom prst="rect">
            <a:avLst/>
          </a:prstGeom>
          <a:noFill/>
        </p:spPr>
        <p:txBody>
          <a:bodyPr wrap="square" lIns="0" tIns="0" bIns="0" rIns="0">
            <a:spAutoFit/>
          </a:bodyPr>
          <a:lstStyle/>
          <a:p>
            <a:pPr>
              <a:defRPr sz="1000" b="1">
                <a:solidFill>
                  <a:srgbClr val="D97706"/>
                </a:solidFill>
                <a:latin typeface="Arial"/>
              </a:defRPr>
            </a:pPr>
            <a:r>
              <a:t>EVALUATION RESULTS</a:t>
            </a:r>
          </a:p>
        </p:txBody>
      </p:sp>
      <p:sp>
        <p:nvSpPr>
          <p:cNvPr id="3" name="TextBox 2"/>
          <p:cNvSpPr txBox="1"/>
          <p:nvPr/>
        </p:nvSpPr>
        <p:spPr>
          <a:xfrm>
            <a:off x="731520" y="640080"/>
            <a:ext cx="10515600" cy="731520"/>
          </a:xfrm>
          <a:prstGeom prst="rect">
            <a:avLst/>
          </a:prstGeom>
          <a:noFill/>
        </p:spPr>
        <p:txBody>
          <a:bodyPr wrap="square" lIns="0" tIns="0" bIns="0" rIns="0">
            <a:spAutoFit/>
          </a:bodyPr>
          <a:lstStyle/>
          <a:p>
            <a:pPr>
              <a:defRPr sz="3200" b="1">
                <a:solidFill>
                  <a:srgbClr val="0F172A"/>
                </a:solidFill>
                <a:latin typeface="Arial"/>
              </a:defRPr>
            </a:pPr>
            <a:r>
              <a:t>Empirical Performance: Confusion Analysis</a:t>
            </a:r>
          </a:p>
        </p:txBody>
      </p:sp>
      <p:sp>
        <p:nvSpPr>
          <p:cNvPr id="4" name="TextBox 3"/>
          <p:cNvSpPr txBox="1"/>
          <p:nvPr/>
        </p:nvSpPr>
        <p:spPr>
          <a:xfrm>
            <a:off x="731520" y="1645920"/>
            <a:ext cx="4754880" cy="4389120"/>
          </a:xfrm>
          <a:prstGeom prst="rect">
            <a:avLst/>
          </a:prstGeom>
          <a:noFill/>
        </p:spPr>
        <p:txBody>
          <a:bodyPr wrap="square">
            <a:spAutoFit/>
          </a:bodyPr>
          <a:lstStyle/>
          <a:p>
            <a:pPr>
              <a:spcAft>
                <a:spcPts val="1400"/>
              </a:spcAft>
              <a:defRPr sz="1800" b="1">
                <a:solidFill>
                  <a:srgbClr val="D97706"/>
                </a:solidFill>
              </a:defRPr>
            </a:pPr>
            <a:r>
              <a:t>Detailed Class Performance Summary:</a:t>
            </a:r>
          </a:p>
          <a:p>
            <a:pPr>
              <a:spcAft>
                <a:spcPts val="400"/>
              </a:spcAft>
              <a:defRPr sz="1500" b="1"/>
            </a:pPr>
            <a:r>
              <a:t>• Overall F1-Score / Accuracy:</a:t>
            </a:r>
          </a:p>
          <a:p>
            <a:pPr>
              <a:spcAft>
                <a:spcPts val="1200"/>
              </a:spcAft>
              <a:defRPr sz="1300" b="1">
                <a:solidFill>
                  <a:srgbClr val="0F172A"/>
                </a:solidFill>
              </a:defRPr>
            </a:pPr>
            <a:r>
              <a:t>    - AlexNet: 78% (macro avg F1-score: 0.78)</a:t>
            </a:r>
            <a:br/>
            <a:r>
              <a:t>    - LeNet-5: 56% (macro avg F1-score: 0.55)</a:t>
            </a:r>
          </a:p>
          <a:p>
            <a:pPr>
              <a:spcAft>
                <a:spcPts val="400"/>
              </a:spcAft>
              <a:defRPr sz="1500" b="1"/>
            </a:pPr>
            <a:r>
              <a:t>• Top and Bottom Class Scores:</a:t>
            </a:r>
          </a:p>
          <a:p>
            <a:pPr>
              <a:defRPr sz="1300">
                <a:solidFill>
                  <a:srgbClr val="64748B"/>
                </a:solidFill>
              </a:defRPr>
            </a:pPr>
            <a:r>
              <a:t>    - AlexNet top: ship (94% prec), truck (91% recall)</a:t>
            </a:r>
            <a:br/>
            <a:r>
              <a:t>    - LeNet top: car (70% prec), ship (73% recall)</a:t>
            </a:r>
            <a:br/>
            <a:r>
              <a:t>    - Confusions: LeNet-5 struggled on cat (42% prec) and dog (54% prec). AlexNet boosted cat to 64% and dog to 74% precision, proving deeper visual representations.</a:t>
            </a:r>
          </a:p>
        </p:txBody>
      </p:sp>
      <p:pic>
        <p:nvPicPr>
          <p:cNvPr id="5" name="Picture 4" descr="confusion matrix.png"/>
          <p:cNvPicPr>
            <a:picLocks noChangeAspect="1"/>
          </p:cNvPicPr>
          <p:nvPr/>
        </p:nvPicPr>
        <p:blipFill>
          <a:blip r:embed="rId2"/>
          <a:stretch>
            <a:fillRect/>
          </a:stretch>
        </p:blipFill>
        <p:spPr>
          <a:xfrm>
            <a:off x="5852160" y="1828800"/>
            <a:ext cx="5577840" cy="34747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011680"/>
            <a:ext cx="10332720" cy="4114800"/>
          </a:xfrm>
          <a:prstGeom prst="rect">
            <a:avLst/>
          </a:prstGeom>
          <a:noFill/>
        </p:spPr>
        <p:txBody>
          <a:bodyPr wrap="square">
            <a:spAutoFit/>
          </a:bodyPr>
          <a:lstStyle/>
          <a:p>
            <a:pPr>
              <a:spcAft>
                <a:spcPts val="2000"/>
              </a:spcAft>
              <a:defRPr sz="1400" b="1">
                <a:solidFill>
                  <a:srgbClr val="D97706"/>
                </a:solidFill>
                <a:latin typeface="Arial"/>
              </a:defRPr>
            </a:pPr>
            <a:r>
              <a:t>Summary of Learnings</a:t>
            </a:r>
          </a:p>
          <a:p>
            <a:pPr>
              <a:spcAft>
                <a:spcPts val="3600"/>
              </a:spcAft>
              <a:defRPr sz="2400">
                <a:solidFill>
                  <a:srgbClr val="F8FAFC"/>
                </a:solidFill>
                <a:latin typeface="Arial"/>
              </a:defRPr>
            </a:pPr>
            <a:r>
              <a:t>The evolution from LeNet-5 to AlexNet is the story of scaling up. By introducing ReLU activations, Dropout regularization, and utilizing GPU compute capacity, AlexNet unlocked the true potential of spatial networks, laying the foundation for all modern visual architectures.</a:t>
            </a:r>
          </a:p>
          <a:p>
            <a:pPr>
              <a:defRPr sz="1600" b="1">
                <a:solidFill>
                  <a:srgbClr val="D97706"/>
                </a:solidFill>
                <a:latin typeface="Arial"/>
              </a:defRPr>
            </a:pPr>
            <a:r>
              <a:t>Thank you! Questions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